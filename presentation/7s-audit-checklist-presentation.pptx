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คะแนนตัวอย่าง (%)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3A5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หมวด 1</c:v>
                  </c:pt>
                  <c:pt idx="1">
                    <c:v>หมวด 2</c:v>
                  </c:pt>
                  <c:pt idx="2">
                    <c:v>หมวด 3</c:v>
                  </c:pt>
                  <c:pt idx="3">
                    <c:v>หมวด 4</c:v>
                  </c:pt>
                  <c:pt idx="4">
                    <c:v>หมวด 5</c:v>
                  </c:pt>
                  <c:pt idx="5">
                    <c:v>หมวด 6</c:v>
                  </c:pt>
                  <c:pt idx="6">
                    <c:v>หมวด 7</c:v>
                  </c:pt>
                  <c:pt idx="7">
                    <c:v>หมวด 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88</c:v>
                </c:pt>
                <c:pt idx="4">
                  <c:v>70</c:v>
                </c:pt>
                <c:pt idx="5">
                  <c:v>95</c:v>
                </c:pt>
                <c:pt idx="6">
                  <c:v>82</c:v>
                </c:pt>
                <c:pt idx="7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3A5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C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C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C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คะแนนรวม (%)</c:v>
                </c:pt>
              </c:strCache>
            </c:strRef>
          </c:tx>
          <c:spPr>
            <a:solidFill>
              <a:srgbClr val="1D6FD8"/>
            </a:solidFill>
            <a:ln w="38100" cap="flat">
              <a:solidFill>
                <a:srgbClr val="1D6F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3A5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D6FD8"/>
              </a:solidFill>
              <a:ln w="9525" cap="flat">
                <a:solidFill>
                  <a:srgbClr val="1D6F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ม.ค.</c:v>
                  </c:pt>
                  <c:pt idx="1">
                    <c:v>ก.พ.</c:v>
                  </c:pt>
                  <c:pt idx="2">
                    <c:v>มี.ค.</c:v>
                  </c:pt>
                  <c:pt idx="3">
                    <c:v>เม.ย.</c:v>
                  </c:pt>
                  <c:pt idx="4">
                    <c:v>พ.ค.</c:v>
                  </c:pt>
                  <c:pt idx="5">
                    <c:v>มิ.ย.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</c:v>
                </c:pt>
                <c:pt idx="1">
                  <c:v>74</c:v>
                </c:pt>
                <c:pt idx="2">
                  <c:v>79</c:v>
                </c:pt>
                <c:pt idx="3">
                  <c:v>81</c:v>
                </c:pt>
                <c:pt idx="4">
                  <c:v>87</c:v>
                </c:pt>
                <c:pt idx="5">
                  <c:v>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3A5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C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C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C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3.png"/><Relationship Id="rId6" Type="http://schemas.openxmlformats.org/officeDocument/2006/relationships/image" Target="../media/image-5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image" Target="../media/image-9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530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5304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51560" cy="105156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5" name="Image 0" descr="/tmp/claude-0/-home-user--7s-audit-checklist/88f1630b-ea7a-5e9c-8044-e52f727b2d4c/scratchpad/pptx-project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663" y="1051103"/>
            <a:ext cx="778154" cy="778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7ส SELF AUDIT CHECKLIST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ระบบตรวจประเมิน 5ส/7ส ในที่ทำงาน แบบดิจิทัลบนมือถือ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77240" y="4096512"/>
            <a:ext cx="1856232" cy="530352"/>
          </a:xfrm>
          <a:prstGeom prst="roundRect">
            <a:avLst>
              <a:gd name="adj" fmla="val 17241"/>
            </a:avLst>
          </a:prstGeom>
          <a:solidFill>
            <a:srgbClr val="19395C"/>
          </a:solidFill>
          <a:ln w="9525">
            <a:solidFill>
              <a:srgbClr val="2C56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09651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Web App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98064" y="4096512"/>
            <a:ext cx="2066544" cy="530352"/>
          </a:xfrm>
          <a:prstGeom prst="roundRect">
            <a:avLst>
              <a:gd name="adj" fmla="val 17241"/>
            </a:avLst>
          </a:prstGeom>
          <a:solidFill>
            <a:srgbClr val="19395C"/>
          </a:solidFill>
          <a:ln w="9525">
            <a:solidFill>
              <a:srgbClr val="2C56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98064" y="4096512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HTML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0" y="4096512"/>
            <a:ext cx="1856232" cy="530352"/>
          </a:xfrm>
          <a:prstGeom prst="roundRect">
            <a:avLst>
              <a:gd name="adj" fmla="val 17241"/>
            </a:avLst>
          </a:prstGeom>
          <a:solidFill>
            <a:srgbClr val="19395C"/>
          </a:solidFill>
          <a:ln w="9525">
            <a:solidFill>
              <a:srgbClr val="2C56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409651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หลักฐานภาพถ่าย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050024" y="4096512"/>
            <a:ext cx="1435608" cy="530352"/>
          </a:xfrm>
          <a:prstGeom prst="roundRect">
            <a:avLst>
              <a:gd name="adj" fmla="val 17241"/>
            </a:avLst>
          </a:prstGeom>
          <a:solidFill>
            <a:srgbClr val="19395C"/>
          </a:solidFill>
          <a:ln w="9525">
            <a:solidFill>
              <a:srgbClr val="2C56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50024" y="4096512"/>
            <a:ext cx="1435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โครงการเครื่องมือตรวจ 7ส ภายในองค์กร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ปัญหาของการตรวจ 7ส แบบเดิม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การตรวจ 7ส ด้วยกระดาษหรือไฟล์ Excel แยกส่วน ทำให้ทีมงานเสียเวลาและติดตามผลได้ยาก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76200" dist="25400" dir="5400000">
              <a:srgbClr val="9DB6C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21992"/>
            <a:ext cx="685800" cy="685800"/>
          </a:xfrm>
          <a:prstGeom prst="ellipse">
            <a:avLst/>
          </a:prstGeom>
          <a:solidFill>
            <a:srgbClr val="123A5E"/>
          </a:solidFill>
          <a:ln/>
        </p:spPr>
      </p:sp>
      <p:pic>
        <p:nvPicPr>
          <p:cNvPr id="6" name="Image 0" descr="/tmp/claude-0/-home-user--7s-audit-checklist/88f1630b-ea7a-5e9c-8044-e52f727b2d4c/scratchpad/pptx-projec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826" y="2311146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21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กระดาษ/ไฟล์กระจัดกระจาย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7157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แต่ละพื้นที่บันทึกคนละไฟล์ ค้นหาผลย้อนหลังยาก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965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76200" dist="25400" dir="5400000">
              <a:srgbClr val="9DB6CE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36792" y="2221992"/>
            <a:ext cx="685800" cy="685800"/>
          </a:xfrm>
          <a:prstGeom prst="ellipse">
            <a:avLst/>
          </a:prstGeom>
          <a:solidFill>
            <a:srgbClr val="123A5E"/>
          </a:solidFill>
          <a:ln/>
        </p:spPr>
      </p:sp>
      <p:pic>
        <p:nvPicPr>
          <p:cNvPr id="11" name="Image 1" descr="/tmp/claude-0/-home-user--7s-audit-checklist/88f1630b-ea7a-5e9c-8044-e52f727b2d4c/scratchpad/pptx-project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946" y="2311146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221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ไม่มีหลักฐานภาพถ่าย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178040" y="27157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จุดที่ไม่ผ่านไม่มีรูปประกอบ ตรวจสอบซ้ำหรือโต้แย้งผลยาก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76200" dist="25400" dir="5400000">
              <a:srgbClr val="9DB6CE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507992"/>
            <a:ext cx="685800" cy="685800"/>
          </a:xfrm>
          <a:prstGeom prst="ellipse">
            <a:avLst/>
          </a:prstGeom>
          <a:solidFill>
            <a:srgbClr val="123A5E"/>
          </a:solidFill>
          <a:ln/>
        </p:spPr>
      </p:sp>
      <p:pic>
        <p:nvPicPr>
          <p:cNvPr id="16" name="Image 2" descr="/tmp/claude-0/-home-user--7s-audit-checklist/88f1630b-ea7a-5e9c-8044-e52f727b2d4c/scratchpad/pptx-project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" y="4597146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507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คำนวณคะแนนด้วยมือ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45920" y="50017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รวมคะแนนและสรุปผลเอง เสี่ยงต่อความผิดพลาด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4251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76200" dist="25400" dir="5400000">
              <a:srgbClr val="9DB6CE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36792" y="4507992"/>
            <a:ext cx="685800" cy="685800"/>
          </a:xfrm>
          <a:prstGeom prst="ellipse">
            <a:avLst/>
          </a:prstGeom>
          <a:solidFill>
            <a:srgbClr val="123A5E"/>
          </a:solidFill>
          <a:ln/>
        </p:spPr>
      </p:sp>
      <p:pic>
        <p:nvPicPr>
          <p:cNvPr id="21" name="Image 3" descr="/tmp/claude-0/-home-user--7s-audit-checklist/88f1630b-ea7a-5e9c-8044-e52f727b2d4c/scratchpad/pptx-project/icons/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946" y="4597146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507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เทียบแนวโน้มไม่ได้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178040" y="50017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ไม่มีข้อมูลย้อนหลังให้เทียบระหว่างเดือนหรือพื้นที่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โซลูชัน: เว็บแอปตรวจ 7ส บนมือถือไฟล์เดียว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22960" cy="82296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/tmp/claude-0/-home-user--7s-audit-checklist/88f1630b-ea7a-5e9c-8044-e52f727b2d4c/scratchpad/pptx-project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5" y="147858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4173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เปิดผ่านเบราว์เซอร์บนมือถือได้ทันที ไม่ต้องติดตั้งแอป ไม่ต้องมีเซิร์ฟเวอร์ ทีมตรวจกรอกผลหน้างานได้ทันที พร้อมแนบรูปหลักฐานและสรุปคะแนนอัตโนมัติ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23A5E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7706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หมวดตรวจสอบ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37560" y="26060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23A5E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27706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333756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หัวข้อย่อย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26060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23A5E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27706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612648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 HTML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915400" y="26060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23A5E"/>
          </a:solidFill>
          <a:ln/>
        </p:spPr>
      </p:sp>
      <p:sp>
        <p:nvSpPr>
          <p:cNvPr id="16" name="Text 13"/>
          <p:cNvSpPr/>
          <p:nvPr/>
        </p:nvSpPr>
        <p:spPr>
          <a:xfrm>
            <a:off x="8915400" y="27706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891540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ขั้นตอนติดตั้ง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709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ออกแบบให้ทีมหน้างานใช้จริง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68680" y="510235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รองรับการตรวจแบบ Pass/Fail รายข้อ · แนบรูปก่อน-หลังแก้ไข · บันทึกขึ้นคลาวด์และสำรองในเครื่อง · ส่งออกเป็น CSV · ดูแนวโน้มคะแนนย้อนหลังได้ในหน้าเดียว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หมวดตรวจสอบมาตรฐาน 7ส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ครอบคลุมพื้นที่ทำงานตั้งแต่จุดจัดเก็บของ ไปจนถึงการปฏิบัติตามมาตรฐานความปลอดภัย รวม 35 หัวข้อย่อย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63500" dist="25400" dir="5400000">
              <a:srgbClr val="9DB6CE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130552"/>
            <a:ext cx="777240" cy="77724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6" name="Image 0" descr="/tmp/claude-0/-home-user--7s-audit-checklist/88f1630b-ea7a-5e9c-8044-e52f727b2d4c/scratchpad/pptx-project/icons/cabi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4081" y="2231593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08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ตู้ / ชั้นวางของ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55848" y="18745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63500" dist="25400" dir="5400000">
              <a:srgbClr val="9DB6CE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70248" y="2130552"/>
            <a:ext cx="777240" cy="777240"/>
          </a:xfrm>
          <a:prstGeom prst="ellipse">
            <a:avLst/>
          </a:prstGeom>
          <a:solidFill>
            <a:srgbClr val="1D6FD8"/>
          </a:solidFill>
          <a:ln/>
        </p:spPr>
      </p:sp>
      <p:pic>
        <p:nvPicPr>
          <p:cNvPr id="10" name="Image 1" descr="/tmp/claude-0/-home-user--7s-audit-checklist/88f1630b-ea7a-5e9c-8044-e52f727b2d4c/scratchpad/pptx-project/icons/ch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289" y="2231593"/>
            <a:ext cx="575158" cy="5751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47288" y="3108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โต๊ะ / เก้าอี้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63056" y="18745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63500" dist="25400" dir="5400000">
              <a:srgbClr val="9DB6CE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77456" y="2130552"/>
            <a:ext cx="777240" cy="77724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4" name="Image 2" descr="/tmp/claude-0/-home-user--7s-audit-checklist/88f1630b-ea7a-5e9c-8044-e52f727b2d4c/scratchpad/pptx-project/icons/win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497" y="2231593"/>
            <a:ext cx="575158" cy="5751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54496" y="3108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ริมหน้าต่าง / ผนัง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970264" y="18745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63500" dist="25400" dir="5400000">
              <a:srgbClr val="9DB6CE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884664" y="2130552"/>
            <a:ext cx="777240" cy="777240"/>
          </a:xfrm>
          <a:prstGeom prst="ellipse">
            <a:avLst/>
          </a:prstGeom>
          <a:solidFill>
            <a:srgbClr val="1D6FD8"/>
          </a:solidFill>
          <a:ln/>
        </p:spPr>
      </p:sp>
      <p:pic>
        <p:nvPicPr>
          <p:cNvPr id="18" name="Image 3" descr="/tmp/claude-0/-home-user--7s-audit-checklist/88f1630b-ea7a-5e9c-8044-e52f727b2d4c/scratchpad/pptx-project/icons/fi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705" y="2231593"/>
            <a:ext cx="575158" cy="57515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61704" y="3108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เอกสาร / เครื่องจักร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279392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63500" dist="25400" dir="5400000">
              <a:srgbClr val="9DB6CE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463040" y="4535424"/>
            <a:ext cx="777240" cy="77724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2" name="Image 4" descr="/tmp/claude-0/-home-user--7s-audit-checklist/88f1630b-ea7a-5e9c-8044-e52f727b2d4c/scratchpad/pptx-project/icons/w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4081" y="4636465"/>
            <a:ext cx="575158" cy="57515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55138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ทางเดิน / พื้น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355848" y="4279392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63500" dist="25400" dir="5400000">
              <a:srgbClr val="9DB6CE">
                <a:alpha val="3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270248" y="4535424"/>
            <a:ext cx="777240" cy="777240"/>
          </a:xfrm>
          <a:prstGeom prst="ellipse">
            <a:avLst/>
          </a:prstGeom>
          <a:solidFill>
            <a:srgbClr val="1D6FD8"/>
          </a:solidFill>
          <a:ln/>
        </p:spPr>
      </p:sp>
      <p:pic>
        <p:nvPicPr>
          <p:cNvPr id="26" name="Image 5" descr="/tmp/claude-0/-home-user--7s-audit-checklist/88f1630b-ea7a-5e9c-8044-e52f727b2d4c/scratchpad/pptx-project/icons/doo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289" y="4636465"/>
            <a:ext cx="575158" cy="57515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47288" y="55138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ช่องทางเข้าออก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163056" y="4279392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63500" dist="25400" dir="5400000">
              <a:srgbClr val="9DB6CE">
                <a:alpha val="3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077456" y="4535424"/>
            <a:ext cx="777240" cy="77724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30" name="Image 6" descr="/tmp/claude-0/-home-user--7s-audit-checklist/88f1630b-ea7a-5e9c-8044-e52f727b2d4c/scratchpad/pptx-project/icons/lea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497" y="4636465"/>
            <a:ext cx="575158" cy="57515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54496" y="55138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สภาพแวดล้อมพื้นที่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8970264" y="4279392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63500" dist="25400" dir="5400000">
              <a:srgbClr val="9DB6CE">
                <a:alpha val="3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884664" y="4535424"/>
            <a:ext cx="777240" cy="777240"/>
          </a:xfrm>
          <a:prstGeom prst="ellipse">
            <a:avLst/>
          </a:prstGeom>
          <a:solidFill>
            <a:srgbClr val="1D6FD8"/>
          </a:solidFill>
          <a:ln/>
        </p:spPr>
      </p:sp>
      <p:pic>
        <p:nvPicPr>
          <p:cNvPr id="34" name="Image 7" descr="/tmp/claude-0/-home-user--7s-audit-checklist/88f1630b-ea7a-5e9c-8044-e52f727b2d4c/scratchpad/pptx-project/icons/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5705" y="4636465"/>
            <a:ext cx="575158" cy="57515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061704" y="55138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การปฏิบัติตามมาตรฐาน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ตรวจรายข้อ พร้อมหลักฐานภาพถ่ายก่อน-หลัง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58368" cy="65836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/tmp/claude-0/-home-user--7s-audit-checklist/88f1630b-ea7a-5e9c-8044-e52f727b2d4c/scratchpad/pptx-projec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228" y="1502908"/>
            <a:ext cx="487192" cy="487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990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ผ่าน / ไม่ผ่าน รายข้อ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74650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แตะเลือกผลได้ทันทีหน้างาน ไม่ต้องพกกระดาษ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624328"/>
            <a:ext cx="658368" cy="65836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8" name="Image 1" descr="/tmp/claude-0/-home-user--7s-audit-checklist/88f1630b-ea7a-5e9c-8044-e52f727b2d4c/scratchpad/pptx-project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28" y="2709916"/>
            <a:ext cx="487192" cy="487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ระบุจุดที่พบและกำหนดวันแก้ไข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17320" y="295351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ข้อที่ไม่ผ่านให้บันทึกรายละเอียดจุดบกพร่องและวันครบกำหนด พร้อมแนบรูป “ก่อนแก้ไข”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831336"/>
            <a:ext cx="658368" cy="65836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2" name="Image 2" descr="/tmp/claude-0/-home-user--7s-audit-checklist/88f1630b-ea7a-5e9c-8044-e52f727b2d4c/scratchpad/pptx-project/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28" y="3916924"/>
            <a:ext cx="487192" cy="4871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8130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ปิดงานพร้อมรูป “หลังแก้ไข”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416052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เมื่อแก้ไขเสร็จ ปิดงานพร้อมแนบรูปเปรียบเทียบและวันที่ปิดงานจริง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5038344"/>
            <a:ext cx="658368" cy="65836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3" descr="/tmp/claude-0/-home-user--7s-audit-checklist/88f1630b-ea7a-5e9c-8044-e52f727b2d4c/scratchpad/pptx-project/icons/compre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28" y="5123932"/>
            <a:ext cx="487192" cy="4871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50200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บีบอัดรูปอัตโนมัติในเครื่อง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17320" y="53675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ลดขนาดไฟล์ก่อนอัปโหลด ประหยัดพื้นที่จัดเก็บและโหลดเร็วขึ้น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909560" y="1417320"/>
            <a:ext cx="3703320" cy="47091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76200" dist="25400" dir="5400000">
              <a:srgbClr val="9DB6CE">
                <a:alpha val="30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8183880" y="16733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ตัวอย่างหลักฐานภาพประกอบ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8183880" y="2194560"/>
            <a:ext cx="1440180" cy="1874520"/>
          </a:xfrm>
          <a:prstGeom prst="roundRect">
            <a:avLst>
              <a:gd name="adj" fmla="val 5714"/>
            </a:avLst>
          </a:prstGeom>
          <a:solidFill>
            <a:srgbClr val="FBE9EA"/>
          </a:solidFill>
          <a:ln w="12700">
            <a:solidFill>
              <a:srgbClr val="D9464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620506" y="2395728"/>
            <a:ext cx="566928" cy="566928"/>
          </a:xfrm>
          <a:prstGeom prst="ellipse">
            <a:avLst/>
          </a:prstGeom>
          <a:solidFill>
            <a:srgbClr val="D9464B"/>
          </a:solidFill>
          <a:ln/>
        </p:spPr>
      </p:sp>
      <p:pic>
        <p:nvPicPr>
          <p:cNvPr id="23" name="Image 4" descr="/tmp/claude-0/-home-user--7s-audit-checklist/88f1630b-ea7a-5e9c-8044-e52f727b2d4c/scratchpad/pptx-project/icons/came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207" y="2469429"/>
            <a:ext cx="419527" cy="41952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183880" y="3127248"/>
            <a:ext cx="1440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ก่อนแก้ไข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183880" y="3474720"/>
            <a:ext cx="1440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พร้อมวันที่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898380" y="2194560"/>
            <a:ext cx="1440180" cy="1874520"/>
          </a:xfrm>
          <a:prstGeom prst="roundRect">
            <a:avLst>
              <a:gd name="adj" fmla="val 5714"/>
            </a:avLst>
          </a:prstGeom>
          <a:solidFill>
            <a:srgbClr val="E1F3E8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10335006" y="2395728"/>
            <a:ext cx="566928" cy="56692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8" name="Image 5" descr="/tmp/claude-0/-home-user--7s-audit-checklist/88f1630b-ea7a-5e9c-8044-e52f727b2d4c/scratchpad/pptx-project/icons/came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8707" y="2469429"/>
            <a:ext cx="419527" cy="41952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898380" y="3127248"/>
            <a:ext cx="1440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หลังแก้ไข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9898380" y="3474720"/>
            <a:ext cx="1440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พร้อมวันที่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8183880" y="4361688"/>
            <a:ext cx="3154680" cy="0"/>
          </a:xfrm>
          <a:prstGeom prst="line">
            <a:avLst/>
          </a:prstGeom>
          <a:noFill/>
          <a:ln w="12700">
            <a:solidFill>
              <a:srgbClr val="CFE0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8183880" y="450799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รูปก่อน-หลังถูกเก็บคู่กับหัวข้อตรวจ ใช้ยืนยันผลการแก้ไขได้ทันที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คำนวณคะแนนอัตโนมัติ พร้อมเกณฑ์ตัดสินผล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160520" cy="4572000"/>
          </a:xfrm>
          <a:prstGeom prst="roundRect">
            <a:avLst>
              <a:gd name="adj" fmla="val 2637"/>
            </a:avLst>
          </a:prstGeom>
          <a:solidFill>
            <a:srgbClr val="123A5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เกณฑ์ตัดสินผล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75%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ผ่านเกณฑ์การตรวจ 7ส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3520440" cy="0"/>
          </a:xfrm>
          <a:prstGeom prst="line">
            <a:avLst/>
          </a:prstGeom>
          <a:noFill/>
          <a:ln w="12700">
            <a:solidFill>
              <a:srgbClr val="2C56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84048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ระบบรวมคะแนนจาก 35 หัวข้อแบบเรียลไทม์ พร้อมแสดงแถบความคืบหน้าและสรุปผ่าน/ไม่ผ่านทันทีที่ตรวจครบ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83480" y="1417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ตัวอย่างคะแนนแยกตามหมวด (ข้อมูลสมมติเพื่อประกอบการอธิบาย)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983480" y="178308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บันทึกผล ส่งออก และซิงก์ขึ้นคลาวด์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ผลตรวจแต่ละครั้งถูกเก็บได้ทั้งบนคลาวด์และในเครื่อง เพื่อให้ใช้งานต่อได้แม้ไม่มีสัญญาณอินเทอร์เน็ต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63500" dist="25400" dir="5400000">
              <a:srgbClr val="9DB6CE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240280"/>
            <a:ext cx="822960" cy="822960"/>
          </a:xfrm>
          <a:prstGeom prst="ellipse">
            <a:avLst/>
          </a:prstGeom>
          <a:solidFill>
            <a:srgbClr val="123A5E"/>
          </a:solidFill>
          <a:ln/>
        </p:spPr>
      </p:sp>
      <p:pic>
        <p:nvPicPr>
          <p:cNvPr id="6" name="Image 0" descr="/tmp/claude-0/-home-user--7s-audit-checklist/88f1630b-ea7a-5e9c-8044-e52f727b2d4c/scratchpad/pptx-project/icons/cs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365" y="23472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CSV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ส่งออกผลตรวจทั้งหมดเป็นไฟล์ CSV เพื่อนำไปวิเคราะห์หรือรายงานต่อได้ทันที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63500" dist="25400" dir="5400000">
              <a:srgbClr val="9DB6CE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92140" y="2240280"/>
            <a:ext cx="822960" cy="822960"/>
          </a:xfrm>
          <a:prstGeom prst="ellipse">
            <a:avLst/>
          </a:prstGeom>
          <a:solidFill>
            <a:srgbClr val="123A5E"/>
          </a:solidFill>
          <a:ln/>
        </p:spPr>
      </p:sp>
      <p:pic>
        <p:nvPicPr>
          <p:cNvPr id="11" name="Image 1" descr="/tmp/claude-0/-home-user--7s-audit-checklist/88f1630b-ea7a-5e9c-8044-e52f727b2d4c/scratchpad/pptx-project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125" y="234726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ซิงก์ขึ้นคลาวด์ (Firebase)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8862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บันทึกผลตรวจขึ้น Firestore ให้ทุกพื้นที่เข้าถึงข้อมูลเดียวกันแบบเรียลไทม์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63500" dist="25400" dir="5400000">
              <a:srgbClr val="9DB6CE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86900" y="2240280"/>
            <a:ext cx="822960" cy="822960"/>
          </a:xfrm>
          <a:prstGeom prst="ellipse">
            <a:avLst/>
          </a:prstGeom>
          <a:solidFill>
            <a:srgbClr val="123A5E"/>
          </a:solidFill>
          <a:ln/>
        </p:spPr>
      </p:sp>
      <p:pic>
        <p:nvPicPr>
          <p:cNvPr id="16" name="Image 2" descr="/tmp/claude-0/-home-user--7s-audit-checklist/88f1630b-ea7a-5e9c-8044-e52f727b2d4c/scratchpad/pptx-project/icons/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885" y="234726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สำรองข้อมูลในเครื่อง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0" y="38862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LocalStorage เป็นระบบสำรอง ตรวจงานต่อได้แม้ออฟไลน์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แดชบอร์ดเปรียบเทียบผลย้อนหลัง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/tmp/claude-0/-home-user--7s-audit-checklist/88f1630b-ea7a-5e9c-8044-e52f727b2d4c/scratchpad/pptx-project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1518361"/>
            <a:ext cx="575158" cy="575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4630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ติดตามแนวโน้มคะแนนรายเดือน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548640" y="2386584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2585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กรองข้อมูลตามพื้นที่ที่ตรวจ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255264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12724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ตารางเปรียบเทียบคะแนนแยกตามหมวดทั้ง 8 หมวด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123944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9959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ประวัติการตรวจเรียงตามช่วงเวลา พร้อมดูรายละเอียดย้อนหลัง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7492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ตัวอย่างแนวโน้มคะแนนรายเดือน (ข้อมูลสมมติเพื่อประกอบการอธิบาย)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074920" y="178308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สถาปัตยกรรมทางเทคนิค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ออกแบบให้เบา เร็ว และดูแลรักษาง่าย โดยไม่ต้องมีขั้นตอน build หรือ backend ที่ซับซ้อน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21792" cy="621792"/>
          </a:xfrm>
          <a:prstGeom prst="ellipse">
            <a:avLst/>
          </a:prstGeom>
          <a:solidFill>
            <a:srgbClr val="1D6FD8"/>
          </a:solidFill>
          <a:ln/>
        </p:spPr>
      </p:sp>
      <p:pic>
        <p:nvPicPr>
          <p:cNvPr id="5" name="Image 0" descr="/tmp/claude-0/-home-user--7s-audit-checklist/88f1630b-ea7a-5e9c-8044-e52f727b2d4c/scratchpad/pptx-project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473" y="1909633"/>
            <a:ext cx="460126" cy="4601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105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/ CSS / Vanilla JS ไฟล์เดียว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21945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ไม่ต้องมีขั้นตอน build หรือ dependency ภายนอก เปิดใช้งานได้ทันที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944368"/>
            <a:ext cx="621792" cy="621792"/>
          </a:xfrm>
          <a:prstGeom prst="ellipse">
            <a:avLst/>
          </a:prstGeom>
          <a:solidFill>
            <a:srgbClr val="1D6FD8"/>
          </a:solidFill>
          <a:ln/>
        </p:spPr>
      </p:sp>
      <p:pic>
        <p:nvPicPr>
          <p:cNvPr id="9" name="Image 1" descr="/tmp/claude-0/-home-user--7s-audit-checklist/88f1630b-ea7a-5e9c-8044-e52f727b2d4c/scratchpad/pptx-project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73" y="3025201"/>
            <a:ext cx="460126" cy="4601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926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Firestore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33101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ฐานข้อมูลบนคลาวด์สำหรับซิงก์ผลตรวจระหว่างพื้นที่แบบเรียลไทม์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59936"/>
            <a:ext cx="621792" cy="621792"/>
          </a:xfrm>
          <a:prstGeom prst="ellipse">
            <a:avLst/>
          </a:prstGeom>
          <a:solidFill>
            <a:srgbClr val="1D6FD8"/>
          </a:solidFill>
          <a:ln/>
        </p:spPr>
      </p:sp>
      <p:pic>
        <p:nvPicPr>
          <p:cNvPr id="13" name="Image 2" descr="/tmp/claude-0/-home-user--7s-audit-checklist/88f1630b-ea7a-5e9c-8044-e52f727b2d4c/scratchpad/pptx-project/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3" y="4140769"/>
            <a:ext cx="460126" cy="4601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0416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API บีบอัดรูปในเครื่อง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442569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ลดขนาดไฟล์รูปก่อนอัปโหลด ทำงานฝั่ง client ทั้งหมด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5175504"/>
            <a:ext cx="621792" cy="621792"/>
          </a:xfrm>
          <a:prstGeom prst="ellipse">
            <a:avLst/>
          </a:prstGeom>
          <a:solidFill>
            <a:srgbClr val="1D6FD8"/>
          </a:solidFill>
          <a:ln/>
        </p:spPr>
      </p:sp>
      <p:pic>
        <p:nvPicPr>
          <p:cNvPr id="17" name="Image 3" descr="/tmp/claude-0/-home-user--7s-audit-checklist/88f1630b-ea7a-5e9c-8044-e52f727b2d4c/scratchpad/pptx-project/icons/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73" y="5256337"/>
            <a:ext cx="460126" cy="4601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515721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 สำรองข้อมูล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554126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เก็บผลตรวจไว้ในเครื่องเป็น fallback เมื่อไม่มีสัญญาณอินเทอร์เน็ต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818120" y="1828800"/>
            <a:ext cx="3794760" cy="4434840"/>
          </a:xfrm>
          <a:prstGeom prst="roundRect">
            <a:avLst>
              <a:gd name="adj" fmla="val 2892"/>
            </a:avLst>
          </a:prstGeom>
          <a:solidFill>
            <a:srgbClr val="123A5E"/>
          </a:solidFill>
          <a:ln/>
        </p:spPr>
      </p:sp>
      <p:sp>
        <p:nvSpPr>
          <p:cNvPr id="21" name="Text 15"/>
          <p:cNvSpPr/>
          <p:nvPr/>
        </p:nvSpPr>
        <p:spPr>
          <a:xfrm>
            <a:off x="8046720" y="20299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ภาพรวมสถาปัตยกรรม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229600" y="2514600"/>
            <a:ext cx="2971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3" name="Text 17"/>
          <p:cNvSpPr/>
          <p:nvPr/>
        </p:nvSpPr>
        <p:spPr>
          <a:xfrm>
            <a:off x="8229600" y="25146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เบราว์เซอร์บนมือถือ (Client)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715500" y="3081528"/>
            <a:ext cx="0" cy="384048"/>
          </a:xfrm>
          <a:prstGeom prst="line">
            <a:avLst/>
          </a:prstGeom>
          <a:noFill/>
          <a:ln w="19050">
            <a:solidFill>
              <a:srgbClr val="4A7BB0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8229600" y="3465576"/>
            <a:ext cx="1348740" cy="960120"/>
          </a:xfrm>
          <a:prstGeom prst="roundRect">
            <a:avLst>
              <a:gd name="adj" fmla="val 7619"/>
            </a:avLst>
          </a:prstGeom>
          <a:solidFill>
            <a:srgbClr val="15304D"/>
          </a:solidFill>
          <a:ln/>
        </p:spPr>
      </p:sp>
      <p:sp>
        <p:nvSpPr>
          <p:cNvPr id="26" name="Shape 20"/>
          <p:cNvSpPr/>
          <p:nvPr/>
        </p:nvSpPr>
        <p:spPr>
          <a:xfrm>
            <a:off x="8675370" y="3575304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7" name="Image 4" descr="/tmp/claude-0/-home-user--7s-audit-checklist/88f1630b-ea7a-5e9c-8044-e52f727b2d4c/scratchpad/pptx-project/icons/d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806" y="3634740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84464" y="4087368"/>
            <a:ext cx="12390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9852660" y="3465576"/>
            <a:ext cx="1348740" cy="960120"/>
          </a:xfrm>
          <a:prstGeom prst="roundRect">
            <a:avLst>
              <a:gd name="adj" fmla="val 7619"/>
            </a:avLst>
          </a:prstGeom>
          <a:solidFill>
            <a:srgbClr val="15304D"/>
          </a:solidFill>
          <a:ln/>
        </p:spPr>
      </p:sp>
      <p:sp>
        <p:nvSpPr>
          <p:cNvPr id="30" name="Shape 23"/>
          <p:cNvSpPr/>
          <p:nvPr/>
        </p:nvSpPr>
        <p:spPr>
          <a:xfrm>
            <a:off x="10298430" y="3575304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31" name="Image 5" descr="/tmp/claude-0/-home-user--7s-audit-checklist/88f1630b-ea7a-5e9c-8044-e52f727b2d4c/scratchpad/pptx-project/icons/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7866" y="3634740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07524" y="4087368"/>
            <a:ext cx="12390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8138160" y="4700016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9CB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เก็บข้อมูลได้ทั้งออนไลน์และออฟไลน์ โดยไม่ต้องมี backend แยกต่างหาก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5029200" cy="5029200"/>
          </a:xfrm>
          <a:prstGeom prst="ellipse">
            <a:avLst/>
          </a:prstGeom>
          <a:solidFill>
            <a:srgbClr val="1530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85800"/>
            <a:ext cx="868680" cy="86868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/tmp/claude-0/-home-user--7s-audit-checklist/88f1630b-ea7a-5e9c-8044-e52f727b2d4c/scratchpad/pptx-project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68" y="798728"/>
            <a:ext cx="642823" cy="6428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คุณค่าที่โครงการนี้ส่งมอบ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5304D"/>
          </a:solidFill>
          <a:ln/>
        </p:spPr>
      </p:sp>
      <p:sp>
        <p:nvSpPr>
          <p:cNvPr id="7" name="Shape 4"/>
          <p:cNvSpPr/>
          <p:nvPr/>
        </p:nvSpPr>
        <p:spPr>
          <a:xfrm>
            <a:off x="1508760" y="2258568"/>
            <a:ext cx="685800" cy="6858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8" name="Image 1" descr="/tmp/claude-0/-home-user--7s-audit-checklist/88f1630b-ea7a-5e9c-8044-e52f727b2d4c/scratchpad/pptx-project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914" y="2347722"/>
            <a:ext cx="507492" cy="5074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ตรวจครบในหน้างาน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49808" y="3794760"/>
            <a:ext cx="2203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ไม่ต้องพกกระดาษ กรอกผลและแนบรูปได้จบในที่เดียว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83280" y="196596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5304D"/>
          </a:solidFill>
          <a:ln/>
        </p:spPr>
      </p:sp>
      <p:sp>
        <p:nvSpPr>
          <p:cNvPr id="12" name="Shape 8"/>
          <p:cNvSpPr/>
          <p:nvPr/>
        </p:nvSpPr>
        <p:spPr>
          <a:xfrm>
            <a:off x="4343400" y="2258568"/>
            <a:ext cx="685800" cy="6858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/tmp/claude-0/-home-user--7s-audit-checklist/88f1630b-ea7a-5e9c-8044-e52f727b2d4c/scratchpad/pptx-project/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554" y="2347722"/>
            <a:ext cx="507492" cy="5074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หลักฐานภาพครบถ้วน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84448" y="3794760"/>
            <a:ext cx="2203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รูปก่อน-หลังแก้ไข ยืนยันผลได้ชัดเจน ตรวจสอบย้อนหลังได้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196596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5304D"/>
          </a:solidFill>
          <a:ln/>
        </p:spPr>
      </p:sp>
      <p:sp>
        <p:nvSpPr>
          <p:cNvPr id="17" name="Shape 12"/>
          <p:cNvSpPr/>
          <p:nvPr/>
        </p:nvSpPr>
        <p:spPr>
          <a:xfrm>
            <a:off x="7178040" y="2258568"/>
            <a:ext cx="685800" cy="6858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8" name="Image 3" descr="/tmp/claude-0/-home-user--7s-audit-checklist/88f1630b-ea7a-5e9c-8044-e52f727b2d4c/scratchpad/pptx-project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194" y="2347722"/>
            <a:ext cx="507492" cy="5074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ข้อมูลย้อนหลังพร้อมใช้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419088" y="3794760"/>
            <a:ext cx="2203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เห็นแนวโน้มคะแนนและเปรียบเทียบแต่ละพื้นที่ได้ทันที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052560" y="196596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5304D"/>
          </a:solidFill>
          <a:ln/>
        </p:spPr>
      </p:sp>
      <p:sp>
        <p:nvSpPr>
          <p:cNvPr id="22" name="Shape 16"/>
          <p:cNvSpPr/>
          <p:nvPr/>
        </p:nvSpPr>
        <p:spPr>
          <a:xfrm>
            <a:off x="10012680" y="2258568"/>
            <a:ext cx="685800" cy="6858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3" name="Image 4" descr="/tmp/claude-0/-home-user--7s-audit-checklist/88f1630b-ea7a-5e9c-8044-e52f727b2d4c/scratchpad/pptx-project/icons/mob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1834" y="2347722"/>
            <a:ext cx="507492" cy="5074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3544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ใช้งานได้ทันที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253728" y="3794760"/>
            <a:ext cx="2203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เปิดผ่านมือถือ ไม่ต้องติดตั้งหรือดูแลระบบเพิ่มเติม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4864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7ส Self Audit Checklist — เครื่องมือเดียว ตรวจง่าย เห็นผลชัด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2026-07-20T22:54:16Z</dcterms:created>
  <dcterms:modified xsi:type="dcterms:W3CDTF">2026-07-20T22:54:16Z</dcterms:modified>
</cp:coreProperties>
</file>